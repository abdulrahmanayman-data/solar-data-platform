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7C1DC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B7C1DC"/>
                </a:solidFill>
                <a:latin typeface="Calibri"/>
              </a:rPr>
              <a:t>Governorate Ranking by Avg. GHI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Solar Potential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Gov. A</c:v>
                  </c:pt>
                  <c:pt idx="1">
                    <c:v>Gov. B</c:v>
                  </c:pt>
                  <c:pt idx="2">
                    <c:v>Gov. C</c:v>
                  </c:pt>
                  <c:pt idx="3">
                    <c:v>Gov. D</c:v>
                  </c:pt>
                  <c:pt idx="4">
                    <c:v>Gov. E</c:v>
                  </c:pt>
                  <c:pt idx="5">
                    <c:v>Gov. 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74</c:v>
                </c:pt>
                <c:pt idx="2">
                  <c:v>81</c:v>
                </c:pt>
                <c:pt idx="3">
                  <c:v>77</c:v>
                </c:pt>
                <c:pt idx="4">
                  <c:v>85</c:v>
                </c:pt>
                <c:pt idx="5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7C1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3D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0F1A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4754880" cy="4754880"/>
          </a:xfrm>
          <a:prstGeom prst="ellipse">
            <a:avLst/>
          </a:prstGeom>
          <a:solidFill>
            <a:srgbClr val="F2B70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02240" y="-1402080"/>
            <a:ext cx="3169920" cy="3169920"/>
          </a:xfrm>
          <a:prstGeom prst="ellipse">
            <a:avLst/>
          </a:prstGeom>
          <a:solidFill>
            <a:srgbClr val="F2B70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4720" y="-609600"/>
            <a:ext cx="1584960" cy="1584960"/>
          </a:xfrm>
          <a:prstGeom prst="ellipse">
            <a:avLst/>
          </a:prstGeom>
          <a:solidFill>
            <a:srgbClr val="F2B705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4754880"/>
            <a:ext cx="3840480" cy="3840480"/>
          </a:xfrm>
          <a:prstGeom prst="ellipse">
            <a:avLst/>
          </a:prstGeom>
          <a:solidFill>
            <a:srgbClr val="1428A0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188720" y="5394960"/>
            <a:ext cx="2560320" cy="2560320"/>
          </a:xfrm>
          <a:prstGeom prst="ellipse">
            <a:avLst/>
          </a:prstGeom>
          <a:solidFill>
            <a:srgbClr val="1428A0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548640" y="6035040"/>
            <a:ext cx="1280160" cy="1280160"/>
          </a:xfrm>
          <a:prstGeom prst="ellipse">
            <a:avLst/>
          </a:prstGeom>
          <a:solidFill>
            <a:srgbClr val="1428A0">
              <a:alpha val="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Campus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10048" y="1417320"/>
            <a:ext cx="1371600" cy="13716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0944" y="1728216"/>
            <a:ext cx="749808" cy="749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0632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914400" y="397764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Solar Intelligence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415388" y="507492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15388" y="5074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04308" y="507492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04308" y="5074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Track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73188" y="50749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73188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Ayman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Solar Energy?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5168" y="160020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3848" y="1920240"/>
            <a:ext cx="777240" cy="7772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592" y="21579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9760" y="283464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Solar Resource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6336" y="3383280"/>
            <a:ext cx="21122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deserts and Upper Egypt are among the most sun-rich regions on Earth.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44088" y="160020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12768" y="1920240"/>
            <a:ext cx="777240" cy="7772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12" y="21579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8680" y="283464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Diversification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45256" y="3383280"/>
            <a:ext cx="21122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reliance on a single energy source and strengthens energy security.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3008" y="160020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1688" y="1920240"/>
            <a:ext cx="777240" cy="7772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432" y="21579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7600" y="283464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Sustainable Future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4176" y="3383280"/>
            <a:ext cx="21122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emissions and a cleaner path for long-term national growth.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21928" y="160020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0608" y="1920240"/>
            <a:ext cx="777240" cy="7772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352" y="21579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6520" y="283464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Data-Driven Planning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23096" y="3383280"/>
            <a:ext cx="21122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sunlight into power requires choosing the right land, not just the right idea.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build the next solar project?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Renewable Energy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4206240" cy="3566160"/>
          </a:xfrm>
          <a:prstGeom prst="roundRect">
            <a:avLst>
              <a:gd name="adj" fmla="val 2308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1488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Egypt's electricity mix targeted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renewable sources by 2035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Egypt's Integrated Sustainable Energy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(ISES) 2035 / updated NDC, Egyptian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Information Service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166360" y="1783080"/>
            <a:ext cx="594360" cy="59436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2020824"/>
            <a:ext cx="118872" cy="1188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35040" y="1737360"/>
            <a:ext cx="5653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Priority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2121408"/>
            <a:ext cx="56537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is a core pillar of Egypt's long-term sustainable development strategy.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66360" y="2971800"/>
            <a:ext cx="594360" cy="59436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3209544"/>
            <a:ext cx="118872" cy="1188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2926080"/>
            <a:ext cx="5653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at the Center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035040" y="3310128"/>
            <a:ext cx="56537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solar resource makes solar power one of the strategy's primary growth areas.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66360" y="4160520"/>
            <a:ext cx="594360" cy="59436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4398264"/>
            <a:ext cx="118872" cy="1188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4114800"/>
            <a:ext cx="5653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Ambition to Sites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035040" y="4498848"/>
            <a:ext cx="56537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national targets depends on choosing the right locations, project by project.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Potential Is Not the Same as a Suitable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8068" y="160020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236" y="1805940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252" y="19339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6748" y="1600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72788" y="160020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73956" y="1805940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972" y="19339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1468" y="1600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47508" y="160020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148676" y="1805940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692" y="193395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16188" y="1600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98068" y="2715768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99236" y="2921508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252" y="3049524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66748" y="271576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Suitability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72788" y="2715768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73956" y="2921508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972" y="3049524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1468" y="271576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Grid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47508" y="2715768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148676" y="2921508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692" y="3049524"/>
            <a:ext cx="246888" cy="2468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16188" y="271576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&amp; Access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98068" y="3831336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199236" y="4037076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7252" y="4165092"/>
            <a:ext cx="246888" cy="2468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866748" y="3831336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Bodies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472788" y="3831336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673956" y="4037076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1972" y="4165092"/>
            <a:ext cx="246888" cy="2468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1468" y="3831336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7947508" y="3831336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148676" y="4037076"/>
            <a:ext cx="502920" cy="50292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6692" y="4165092"/>
            <a:ext cx="246888" cy="24688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16188" y="3831336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Limits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914400" y="5394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combine all these datasets into one reliable decision-making system?</a:t>
            </a:r>
            <a:endParaRPr lang="en-US" sz="1800" dirty="0"/>
          </a:p>
        </p:txBody>
      </p:sp>
      <p:sp>
        <p:nvSpPr>
          <p:cNvPr id="41" name="Text 30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42" name="Text 31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43" name="Text 32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50876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Solar Data Platform that analyzes solar potential and identifies suitable locations across Egypt.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6900" y="2834640"/>
            <a:ext cx="1783080" cy="2103120"/>
          </a:xfrm>
          <a:prstGeom prst="roundRect">
            <a:avLst>
              <a:gd name="adj" fmla="val 4615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2680" y="3108960"/>
            <a:ext cx="731520" cy="7315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560" y="3291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8340" y="40233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07412" y="3803904"/>
            <a:ext cx="365760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0" name="Shape 7"/>
          <p:cNvSpPr/>
          <p:nvPr/>
        </p:nvSpPr>
        <p:spPr>
          <a:xfrm>
            <a:off x="3000604" y="2834640"/>
            <a:ext cx="1783080" cy="2103120"/>
          </a:xfrm>
          <a:prstGeom prst="roundRect">
            <a:avLst>
              <a:gd name="adj" fmla="val 4615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6384" y="3108960"/>
            <a:ext cx="731520" cy="7315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264" y="3291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92044" y="40233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811116" y="3803904"/>
            <a:ext cx="365760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5" name="Shape 11"/>
          <p:cNvSpPr/>
          <p:nvPr/>
        </p:nvSpPr>
        <p:spPr>
          <a:xfrm>
            <a:off x="5204308" y="2834640"/>
            <a:ext cx="1783080" cy="2103120"/>
          </a:xfrm>
          <a:prstGeom prst="roundRect">
            <a:avLst>
              <a:gd name="adj" fmla="val 4615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30088" y="3108960"/>
            <a:ext cx="731520" cy="7315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3291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95748" y="40233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014820" y="3803904"/>
            <a:ext cx="365760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8012" y="2834640"/>
            <a:ext cx="1783080" cy="2103120"/>
          </a:xfrm>
          <a:prstGeom prst="roundRect">
            <a:avLst>
              <a:gd name="adj" fmla="val 4615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33792" y="3108960"/>
            <a:ext cx="731520" cy="7315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672" y="32918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9452" y="40233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218524" y="3803904"/>
            <a:ext cx="365760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25" name="Shape 19"/>
          <p:cNvSpPr/>
          <p:nvPr/>
        </p:nvSpPr>
        <p:spPr>
          <a:xfrm>
            <a:off x="9611716" y="2834640"/>
            <a:ext cx="1783080" cy="2103120"/>
          </a:xfrm>
          <a:prstGeom prst="roundRect">
            <a:avLst>
              <a:gd name="adj" fmla="val 4615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37496" y="310896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376" y="32918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03156" y="40233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 We Need?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9720" y="164592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0756" y="192024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492" y="20939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9720" y="274320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4040" y="395478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040" y="395478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— Global Horizontal Irradiance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4040" y="441198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4040" y="441198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— Direct Normal Irradiance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21912" y="164592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52948" y="1920240"/>
            <a:ext cx="685800" cy="68580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84" y="209397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1912" y="274320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96232" y="395478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96232" y="395478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96232" y="441198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6232" y="441198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44104" y="164592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75140" y="192024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876" y="2093976"/>
            <a:ext cx="338328" cy="3383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44104" y="274320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418424" y="329184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18424" y="32918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418424" y="374904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18424" y="37490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418424" y="420624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418424" y="42062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418424" y="466344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18424" y="46634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(DEM)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418424" y="512064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418424" y="51206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Bodies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418424" y="557784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18424" y="557784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7444" y="169164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9860" y="187452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876" y="20025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7172" y="249631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5460" y="28072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 &amp; irradiance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93796" y="169164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6212" y="187452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28" y="200253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3524" y="249631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1812" y="28072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historical solar record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0148" y="169164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52564" y="187452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80" y="200253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9876" y="249631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38164" y="28072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&amp; power infrastructure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9026500" y="169164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68916" y="187452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932" y="200253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6228" y="249631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54516" y="28072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classification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77444" y="347472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619860" y="365760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876" y="378561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7172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DEM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05460" y="45902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terrain slope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393796" y="347472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436212" y="365760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4228" y="378561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03524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JRC Surface Water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1812" y="45902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body mapping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210148" y="347472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252564" y="365760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580" y="3785616"/>
            <a:ext cx="246888" cy="2468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19876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WDPA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38164" y="45902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 boundaries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9026500" y="3474720"/>
            <a:ext cx="2587752" cy="1554480"/>
          </a:xfrm>
          <a:prstGeom prst="roundRect">
            <a:avLst>
              <a:gd name="adj" fmla="val 529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0068916" y="3657600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6932" y="3785616"/>
            <a:ext cx="246888" cy="2468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36228" y="4279392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Solar Atlas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54516" y="45902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irradiance map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Data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6860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9488" y="216712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504" y="22951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1724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1724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Locations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903324" y="2775204"/>
            <a:ext cx="201168" cy="164592"/>
          </a:xfrm>
          <a:prstGeom prst="rightArrow">
            <a:avLst/>
          </a:prstGeom>
          <a:solidFill>
            <a:srgbClr val="7E8AB0"/>
          </a:solidFill>
          <a:ln/>
        </p:spPr>
      </p:sp>
      <p:sp>
        <p:nvSpPr>
          <p:cNvPr id="10" name="Shape 7"/>
          <p:cNvSpPr/>
          <p:nvPr/>
        </p:nvSpPr>
        <p:spPr>
          <a:xfrm>
            <a:off x="2113636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6264" y="216712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80" y="22951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68500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168500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Batch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540100" y="2775204"/>
            <a:ext cx="201168" cy="164592"/>
          </a:xfrm>
          <a:prstGeom prst="rightArrow">
            <a:avLst/>
          </a:prstGeom>
          <a:solidFill>
            <a:srgbClr val="7E8AB0"/>
          </a:solidFill>
          <a:ln/>
        </p:spPr>
      </p:sp>
      <p:sp>
        <p:nvSpPr>
          <p:cNvPr id="16" name="Shape 12"/>
          <p:cNvSpPr/>
          <p:nvPr/>
        </p:nvSpPr>
        <p:spPr>
          <a:xfrm>
            <a:off x="3750412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03040" y="216712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056" y="229514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05276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805276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176876" y="2775204"/>
            <a:ext cx="201168" cy="164592"/>
          </a:xfrm>
          <a:prstGeom prst="rightArrow">
            <a:avLst/>
          </a:prstGeom>
          <a:solidFill>
            <a:srgbClr val="7E8AB0"/>
          </a:solidFill>
          <a:ln/>
        </p:spPr>
      </p:sp>
      <p:sp>
        <p:nvSpPr>
          <p:cNvPr id="22" name="Shape 17"/>
          <p:cNvSpPr/>
          <p:nvPr/>
        </p:nvSpPr>
        <p:spPr>
          <a:xfrm>
            <a:off x="5387188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39816" y="216712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229514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2052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42052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813652" y="2775204"/>
            <a:ext cx="201168" cy="164592"/>
          </a:xfrm>
          <a:prstGeom prst="rightArrow">
            <a:avLst/>
          </a:prstGeom>
          <a:solidFill>
            <a:srgbClr val="7E8AB0"/>
          </a:solidFill>
          <a:ln/>
        </p:spPr>
      </p:sp>
      <p:sp>
        <p:nvSpPr>
          <p:cNvPr id="28" name="Shape 22"/>
          <p:cNvSpPr/>
          <p:nvPr/>
        </p:nvSpPr>
        <p:spPr>
          <a:xfrm>
            <a:off x="7023964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76592" y="2167128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608" y="229514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78828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078828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Hive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8450428" y="2775204"/>
            <a:ext cx="201168" cy="164592"/>
          </a:xfrm>
          <a:prstGeom prst="rightArrow">
            <a:avLst/>
          </a:prstGeom>
          <a:solidFill>
            <a:srgbClr val="7E8AB0"/>
          </a:solidFill>
          <a:ln/>
        </p:spPr>
      </p:sp>
      <p:sp>
        <p:nvSpPr>
          <p:cNvPr id="34" name="Shape 27"/>
          <p:cNvSpPr/>
          <p:nvPr/>
        </p:nvSpPr>
        <p:spPr>
          <a:xfrm>
            <a:off x="8660740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113368" y="216712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1384" y="229514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715604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Layer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8715604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10087204" y="2775204"/>
            <a:ext cx="201168" cy="164592"/>
          </a:xfrm>
          <a:prstGeom prst="rightArrow">
            <a:avLst/>
          </a:prstGeom>
          <a:solidFill>
            <a:srgbClr val="7E8AB0"/>
          </a:solidFill>
          <a:ln/>
        </p:spPr>
      </p:sp>
      <p:sp>
        <p:nvSpPr>
          <p:cNvPr id="40" name="Shape 32"/>
          <p:cNvSpPr/>
          <p:nvPr/>
        </p:nvSpPr>
        <p:spPr>
          <a:xfrm>
            <a:off x="10297516" y="196596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0750144" y="216712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8160" y="2295144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352380" y="2770632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Analytics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10352380" y="3099816"/>
            <a:ext cx="1307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+ Power BI</a:t>
            </a:r>
            <a:endParaRPr lang="en-US" sz="850" dirty="0"/>
          </a:p>
        </p:txBody>
      </p:sp>
      <p:sp>
        <p:nvSpPr>
          <p:cNvPr id="45" name="Text 36"/>
          <p:cNvSpPr/>
          <p:nvPr/>
        </p:nvSpPr>
        <p:spPr>
          <a:xfrm>
            <a:off x="1188720" y="406908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ingestion paths, one platform: a continuous live feed buffered through Kafka, and a one-time historical archive loaded directly — unified at the Data Lake layer.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47" name="Text 38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48" name="Text 39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Trusted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06728" y="1691640"/>
            <a:ext cx="8778240" cy="1051560"/>
          </a:xfrm>
          <a:prstGeom prst="roundRect">
            <a:avLst>
              <a:gd name="adj" fmla="val 782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1048" y="1874520"/>
            <a:ext cx="685800" cy="685800"/>
          </a:xfrm>
          <a:prstGeom prst="ellipse">
            <a:avLst/>
          </a:prstGeom>
          <a:solidFill>
            <a:srgbClr val="C98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784" y="20482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49728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849728" y="2194560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ingested data — kept exactly as received, nothing discarded.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04408" y="2770632"/>
            <a:ext cx="182880" cy="201168"/>
          </a:xfrm>
          <a:prstGeom prst="downArrow">
            <a:avLst/>
          </a:prstGeom>
          <a:solidFill>
            <a:srgbClr val="7E8AB0"/>
          </a:solidFill>
          <a:ln/>
        </p:spPr>
      </p:sp>
      <p:sp>
        <p:nvSpPr>
          <p:cNvPr id="10" name="Shape 7"/>
          <p:cNvSpPr/>
          <p:nvPr/>
        </p:nvSpPr>
        <p:spPr>
          <a:xfrm>
            <a:off x="1706728" y="2999232"/>
            <a:ext cx="8778240" cy="1051560"/>
          </a:xfrm>
          <a:prstGeom prst="roundRect">
            <a:avLst>
              <a:gd name="adj" fmla="val 782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81048" y="3182112"/>
            <a:ext cx="685800" cy="685800"/>
          </a:xfrm>
          <a:prstGeom prst="ellipse">
            <a:avLst/>
          </a:prstGeom>
          <a:solidFill>
            <a:srgbClr val="C7CED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84" y="335584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9728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849728" y="3502152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validated, and deduplicated — numbers you can trust.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04408" y="4078224"/>
            <a:ext cx="182880" cy="201168"/>
          </a:xfrm>
          <a:prstGeom prst="downArrow">
            <a:avLst/>
          </a:prstGeom>
          <a:solidFill>
            <a:srgbClr val="7E8AB0"/>
          </a:solidFill>
          <a:ln/>
        </p:spPr>
      </p:sp>
      <p:sp>
        <p:nvSpPr>
          <p:cNvPr id="16" name="Shape 12"/>
          <p:cNvSpPr/>
          <p:nvPr/>
        </p:nvSpPr>
        <p:spPr>
          <a:xfrm>
            <a:off x="1706728" y="4306824"/>
            <a:ext cx="8778240" cy="1051560"/>
          </a:xfrm>
          <a:prstGeom prst="roundRect">
            <a:avLst>
              <a:gd name="adj" fmla="val 782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981048" y="4489704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784" y="4663440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49728" y="4416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849728" y="4809744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answers — built to respond directly to real questions.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5751576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more reliability and more business value.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 Reliable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9156" y="16459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0324" y="1847088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97510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9548" y="1801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0324" y="24505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checked against expected structure before it moves forward.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35628" y="16459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6796" y="1847088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12" y="197510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6020" y="1801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36796" y="24505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impossible values are rejected, not silently accepted.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12100" y="16459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13268" y="1847088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84" y="197510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2492" y="1801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Detection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13268" y="24505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identified rather than hidden inside an average.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59156" y="34747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0324" y="3675888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380390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9548" y="36301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60324" y="42793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or overlapping readings are collapsed to one trusted value.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35628" y="34747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36796" y="3675888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812" y="380390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6020" y="36301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36796" y="42793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set of rules applied the same way, every run.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12100" y="34747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13268" y="3675888"/>
            <a:ext cx="502920" cy="5029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284" y="3803904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2492" y="36301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13268" y="42793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pipeline's own health is tracked, not just the data it produces.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decisions require reliable data.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Solar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8068" y="155448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372" y="1805940"/>
            <a:ext cx="457200" cy="45720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244" y="19248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130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Potential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04108" y="155448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50412" y="1805940"/>
            <a:ext cx="457200" cy="45720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84" y="19248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734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Characteristics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0148" y="155448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56452" y="1805940"/>
            <a:ext cx="457200" cy="45720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324" y="19248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338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Accessibility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816188" y="155448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962492" y="1805940"/>
            <a:ext cx="457200" cy="457200"/>
          </a:xfrm>
          <a:prstGeom prst="ellipse">
            <a:avLst/>
          </a:prstGeom>
          <a:solidFill>
            <a:srgbClr val="5770D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364" y="192481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29420" y="1554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Constraints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95264" y="2551176"/>
            <a:ext cx="201168" cy="237744"/>
          </a:xfrm>
          <a:prstGeom prst="downArrow">
            <a:avLst/>
          </a:prstGeom>
          <a:solidFill>
            <a:srgbClr val="7E8AB0"/>
          </a:solidFill>
          <a:ln/>
        </p:spPr>
      </p:sp>
      <p:sp>
        <p:nvSpPr>
          <p:cNvPr id="21" name="Shape 15"/>
          <p:cNvSpPr/>
          <p:nvPr/>
        </p:nvSpPr>
        <p:spPr>
          <a:xfrm>
            <a:off x="3626968" y="2898648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3626968" y="28986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995264" y="3621024"/>
            <a:ext cx="201168" cy="237744"/>
          </a:xfrm>
          <a:prstGeom prst="downArrow">
            <a:avLst/>
          </a:prstGeom>
          <a:solidFill>
            <a:srgbClr val="7E8AB0"/>
          </a:solidFill>
          <a:ln/>
        </p:spPr>
      </p:sp>
      <p:sp>
        <p:nvSpPr>
          <p:cNvPr id="24" name="Shape 18"/>
          <p:cNvSpPr/>
          <p:nvPr/>
        </p:nvSpPr>
        <p:spPr>
          <a:xfrm>
            <a:off x="5570068" y="3968496"/>
            <a:ext cx="1051560" cy="105156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388" y="4242816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67048" y="5093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Score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995264" y="5431536"/>
            <a:ext cx="201168" cy="201168"/>
          </a:xfrm>
          <a:prstGeom prst="downArrow">
            <a:avLst/>
          </a:prstGeom>
          <a:solidFill>
            <a:srgbClr val="7E8AB0"/>
          </a:solidFill>
          <a:ln/>
        </p:spPr>
      </p:sp>
      <p:sp>
        <p:nvSpPr>
          <p:cNvPr id="28" name="Shape 21"/>
          <p:cNvSpPr/>
          <p:nvPr/>
        </p:nvSpPr>
        <p:spPr>
          <a:xfrm>
            <a:off x="4267048" y="5678424"/>
            <a:ext cx="3657600" cy="502920"/>
          </a:xfrm>
          <a:prstGeom prst="roundRect">
            <a:avLst>
              <a:gd name="adj" fmla="val 16364"/>
            </a:avLst>
          </a:prstGeom>
          <a:solidFill>
            <a:srgbClr val="0F1A3D"/>
          </a:solidFill>
          <a:ln w="12700">
            <a:solidFill>
              <a:srgbClr val="F2B70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4267048" y="56784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Sites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PIXELS TO PARCELS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Spatial Data to Candidate 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4060" y="1600200"/>
            <a:ext cx="1874520" cy="1325880"/>
          </a:xfrm>
          <a:prstGeom prst="roundRect">
            <a:avLst>
              <a:gd name="adj" fmla="val 6207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2720" y="1764792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592" y="18836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9780" y="229514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Geospatial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26868" y="21808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9" name="Shape 6"/>
          <p:cNvSpPr/>
          <p:nvPr/>
        </p:nvSpPr>
        <p:spPr>
          <a:xfrm>
            <a:off x="3046324" y="1600200"/>
            <a:ext cx="1874520" cy="1325880"/>
          </a:xfrm>
          <a:prstGeom prst="roundRect">
            <a:avLst>
              <a:gd name="adj" fmla="val 6207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54984" y="1764792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856" y="18836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92044" y="229514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39132" y="21808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4" name="Shape 10"/>
          <p:cNvSpPr/>
          <p:nvPr/>
        </p:nvSpPr>
        <p:spPr>
          <a:xfrm>
            <a:off x="5158588" y="1600200"/>
            <a:ext cx="1874520" cy="1325880"/>
          </a:xfrm>
          <a:prstGeom prst="roundRect">
            <a:avLst>
              <a:gd name="adj" fmla="val 6207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67248" y="1764792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20" y="188366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4308" y="229514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051396" y="21808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9" name="Shape 14"/>
          <p:cNvSpPr/>
          <p:nvPr/>
        </p:nvSpPr>
        <p:spPr>
          <a:xfrm>
            <a:off x="7270852" y="1600200"/>
            <a:ext cx="1874520" cy="1325880"/>
          </a:xfrm>
          <a:prstGeom prst="roundRect">
            <a:avLst>
              <a:gd name="adj" fmla="val 6207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79512" y="1764792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384" y="188366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6572" y="229514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163660" y="21808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24" name="Shape 18"/>
          <p:cNvSpPr/>
          <p:nvPr/>
        </p:nvSpPr>
        <p:spPr>
          <a:xfrm>
            <a:off x="9383116" y="1600200"/>
            <a:ext cx="1874520" cy="1325880"/>
          </a:xfrm>
          <a:prstGeom prst="roundRect">
            <a:avLst>
              <a:gd name="adj" fmla="val 6207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91776" y="176479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648" y="188366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28836" y="229514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" y="3291840"/>
            <a:ext cx="11185855" cy="2514600"/>
          </a:xfrm>
          <a:prstGeom prst="roundRect">
            <a:avLst>
              <a:gd name="adj" fmla="val 327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356640" y="3927348"/>
            <a:ext cx="82296" cy="82296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488942" y="4565142"/>
            <a:ext cx="54864" cy="54864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472809" y="4096512"/>
            <a:ext cx="100584" cy="100584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162248" y="4792370"/>
            <a:ext cx="64008" cy="64008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029685" y="4301338"/>
            <a:ext cx="118872" cy="118872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732840" y="3905402"/>
            <a:ext cx="54864" cy="54864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78417" y="4640580"/>
            <a:ext cx="82296" cy="82296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954140" y="4199382"/>
            <a:ext cx="73152" cy="73152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504289" y="4849978"/>
            <a:ext cx="91440" cy="91440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189156" y="3972154"/>
            <a:ext cx="64008" cy="64008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725589" y="4448556"/>
            <a:ext cx="109728" cy="109728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312314" y="4119372"/>
            <a:ext cx="54864" cy="54864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857890" y="4694072"/>
            <a:ext cx="82296" cy="82296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819946" y="4970678"/>
            <a:ext cx="64008" cy="64008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605110" y="3842766"/>
            <a:ext cx="73152" cy="73152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406146" y="3847338"/>
            <a:ext cx="64008" cy="64008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0309897" y="4288536"/>
            <a:ext cx="73152" cy="73152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925077" y="4293108"/>
            <a:ext cx="64008" cy="64008"/>
          </a:xfrm>
          <a:prstGeom prst="ellipse">
            <a:avLst/>
          </a:prstGeom>
          <a:solidFill>
            <a:srgbClr val="F2B705">
              <a:alpha val="85000"/>
            </a:srgbClr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772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Sites — Illustrative Distribution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777240" y="539496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 per site:  Suitability Score  ·  GHI  ·  Area  ·  Distance to Grid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Site Suitability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4114800"/>
          </a:xfrm>
          <a:prstGeom prst="roundRect">
            <a:avLst>
              <a:gd name="adj" fmla="val 2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2453564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66862" y="2039112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185" y="2110435"/>
            <a:ext cx="131674" cy="1316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313432"/>
            <a:ext cx="2307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05124" y="1874520"/>
            <a:ext cx="2453564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4746" y="2039112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069" y="2110435"/>
            <a:ext cx="131674" cy="1316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8276" y="2313432"/>
            <a:ext cx="2307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 (km²)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33008" y="1874520"/>
            <a:ext cx="2453564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22630" y="2039112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953" y="2110435"/>
            <a:ext cx="131674" cy="1316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6160" y="2313432"/>
            <a:ext cx="2307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Suitability Score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960891" y="1874520"/>
            <a:ext cx="2453564" cy="914400"/>
          </a:xfrm>
          <a:prstGeom prst="roundRect">
            <a:avLst>
              <a:gd name="adj" fmla="val 9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050513" y="2039112"/>
            <a:ext cx="274320" cy="2743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837" y="2110435"/>
            <a:ext cx="131674" cy="13167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34043" y="2313432"/>
            <a:ext cx="2307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77240" y="3063240"/>
            <a:ext cx="5852599" cy="2194560"/>
          </a:xfrm>
          <a:prstGeom prst="roundRect">
            <a:avLst>
              <a:gd name="adj" fmla="val 375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609410" y="3456432"/>
            <a:ext cx="91440" cy="91440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469012" y="4096512"/>
            <a:ext cx="128016" cy="128016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374334" y="3575304"/>
            <a:ext cx="73152" cy="73152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45877" y="4439412"/>
            <a:ext cx="100584" cy="100584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08277" y="3758184"/>
            <a:ext cx="146304" cy="146304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125541" y="4229100"/>
            <a:ext cx="82296" cy="82296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208386" y="4677156"/>
            <a:ext cx="64008" cy="64008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413599" y="3456432"/>
            <a:ext cx="91440" cy="91440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081704" y="4782312"/>
            <a:ext cx="73152" cy="73152"/>
          </a:xfrm>
          <a:prstGeom prst="ellipse">
            <a:avLst/>
          </a:prstGeom>
          <a:solidFill>
            <a:srgbClr val="F2B705">
              <a:alpha val="90000"/>
            </a:srgbClr>
          </a:solidFill>
          <a:ln w="12700">
            <a:solidFill>
              <a:srgbClr val="0F1A3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04159" y="3063240"/>
            <a:ext cx="4510296" cy="2194560"/>
          </a:xfrm>
          <a:prstGeom prst="roundRect">
            <a:avLst>
              <a:gd name="adj" fmla="val 3750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87039" y="3200400"/>
            <a:ext cx="4144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B7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 ID        AREA        SCORE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087039" y="3538728"/>
            <a:ext cx="4144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AS-014          —           —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087039" y="3831336"/>
            <a:ext cx="4144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MN-021          —           —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087039" y="4123944"/>
            <a:ext cx="4144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RS-007          —           —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087039" y="4416552"/>
            <a:ext cx="4144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SZ-012          —           —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087039" y="4709160"/>
            <a:ext cx="4144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SH-003          —           —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777240" y="53675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dashboard preview — layout only, no live data shown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most promising solar locations?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Solar Potential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4114800"/>
          </a:xfrm>
          <a:prstGeom prst="roundRect">
            <a:avLst>
              <a:gd name="adj" fmla="val 2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1966509" cy="868680"/>
          </a:xfrm>
          <a:prstGeom prst="roundRect">
            <a:avLst>
              <a:gd name="adj" fmla="val 947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6194" y="2039112"/>
            <a:ext cx="228600" cy="2286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30" y="2098548"/>
            <a:ext cx="109728" cy="109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267712"/>
            <a:ext cx="182020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GHI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44917" y="1874520"/>
            <a:ext cx="1966509" cy="868680"/>
          </a:xfrm>
          <a:prstGeom prst="roundRect">
            <a:avLst>
              <a:gd name="adj" fmla="val 947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13871" y="2039112"/>
            <a:ext cx="228600" cy="2286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307" y="2098548"/>
            <a:ext cx="109728" cy="109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8069" y="2267712"/>
            <a:ext cx="182020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DNI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112593" y="1874520"/>
            <a:ext cx="1966509" cy="868680"/>
          </a:xfrm>
          <a:prstGeom prst="roundRect">
            <a:avLst>
              <a:gd name="adj" fmla="val 947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81548" y="2039112"/>
            <a:ext cx="228600" cy="2286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984" y="2098548"/>
            <a:ext cx="109728" cy="1097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5745" y="2267712"/>
            <a:ext cx="182020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Temperature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280270" y="1874520"/>
            <a:ext cx="1966509" cy="868680"/>
          </a:xfrm>
          <a:prstGeom prst="roundRect">
            <a:avLst>
              <a:gd name="adj" fmla="val 947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49224" y="2039112"/>
            <a:ext cx="228600" cy="2286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660" y="2098548"/>
            <a:ext cx="109728" cy="1097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3422" y="2267712"/>
            <a:ext cx="182020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447947" y="1874520"/>
            <a:ext cx="1966509" cy="868680"/>
          </a:xfrm>
          <a:prstGeom prst="roundRect">
            <a:avLst>
              <a:gd name="adj" fmla="val 9474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316901" y="2039112"/>
            <a:ext cx="228600" cy="2286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337" y="2098548"/>
            <a:ext cx="109728" cy="1097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21099" y="2267712"/>
            <a:ext cx="182020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Observed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77240" y="3017520"/>
          <a:ext cx="10637215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Text 18"/>
          <p:cNvSpPr/>
          <p:nvPr/>
        </p:nvSpPr>
        <p:spPr>
          <a:xfrm>
            <a:off x="777240" y="5422392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dashboard preview — layout only, no live data shown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solar potential behaved over time?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Conditions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4114800"/>
          </a:xfrm>
          <a:prstGeom prst="roundRect">
            <a:avLst>
              <a:gd name="adj" fmla="val 2000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1620469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7455" y="2084832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665" y="2168042"/>
            <a:ext cx="153619" cy="1536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04872"/>
            <a:ext cx="147416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Avg GHI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80589" y="1920240"/>
            <a:ext cx="1620469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30804" y="2084832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014" y="2168042"/>
            <a:ext cx="153619" cy="1536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3741" y="2404872"/>
            <a:ext cx="147416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Avg DNI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83938" y="1920240"/>
            <a:ext cx="1620469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34153" y="2084832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63" y="2168042"/>
            <a:ext cx="153619" cy="1536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57090" y="2404872"/>
            <a:ext cx="147416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Avg Temp.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87288" y="1920240"/>
            <a:ext cx="1620469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37502" y="2084832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713" y="2168042"/>
            <a:ext cx="153619" cy="1536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0440" y="2404872"/>
            <a:ext cx="147416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Cloud Cover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990637" y="1920240"/>
            <a:ext cx="1620469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40851" y="2084832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062" y="2168042"/>
            <a:ext cx="153619" cy="15361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63789" y="2404872"/>
            <a:ext cx="147416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Reporting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9793986" y="1920240"/>
            <a:ext cx="1620469" cy="960120"/>
          </a:xfrm>
          <a:prstGeom prst="roundRect">
            <a:avLst>
              <a:gd name="adj" fmla="val 8571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0444201" y="2084832"/>
            <a:ext cx="320040" cy="3200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7411" y="2168042"/>
            <a:ext cx="153619" cy="1536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67138" y="2404872"/>
            <a:ext cx="147416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Data Refresh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777240" y="3200400"/>
            <a:ext cx="10637215" cy="2011680"/>
          </a:xfrm>
          <a:prstGeom prst="roundRect">
            <a:avLst>
              <a:gd name="adj" fmla="val 4091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707228" y="347472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8396" y="3675888"/>
            <a:ext cx="374904" cy="37490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77240" y="436168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Solar Monitoring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1874520" y="4754880"/>
            <a:ext cx="7894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the most recent readings available in the streaming data layer at each manual refresh.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777240" y="5422392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dashboard preview — layout only, no live data shown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JOURNEY, REVISITED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0848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192" y="257860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27066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6568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34744" y="28666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9" name="Shape 6"/>
          <p:cNvSpPr/>
          <p:nvPr/>
        </p:nvSpPr>
        <p:spPr>
          <a:xfrm>
            <a:off x="2045056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1400" y="257860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416" y="27066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90776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98952" y="28666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4" name="Shape 10"/>
          <p:cNvSpPr/>
          <p:nvPr/>
        </p:nvSpPr>
        <p:spPr>
          <a:xfrm>
            <a:off x="3709264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75608" y="257860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624" y="27066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54984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63160" y="28666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9" name="Shape 14"/>
          <p:cNvSpPr/>
          <p:nvPr/>
        </p:nvSpPr>
        <p:spPr>
          <a:xfrm>
            <a:off x="5373472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39816" y="257860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27066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9192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827368" y="28666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24" name="Shape 18"/>
          <p:cNvSpPr/>
          <p:nvPr/>
        </p:nvSpPr>
        <p:spPr>
          <a:xfrm>
            <a:off x="7037680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04024" y="257860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040" y="27066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83400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491576" y="28666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29" name="Shape 22"/>
          <p:cNvSpPr/>
          <p:nvPr/>
        </p:nvSpPr>
        <p:spPr>
          <a:xfrm>
            <a:off x="8701888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168232" y="2578608"/>
            <a:ext cx="512064" cy="51206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248" y="27066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47608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10155784" y="2866644"/>
            <a:ext cx="201168" cy="164592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34" name="Shape 26"/>
          <p:cNvSpPr/>
          <p:nvPr/>
        </p:nvSpPr>
        <p:spPr>
          <a:xfrm>
            <a:off x="10366096" y="2377440"/>
            <a:ext cx="1444752" cy="1783080"/>
          </a:xfrm>
          <a:prstGeom prst="roundRect">
            <a:avLst>
              <a:gd name="adj" fmla="val 5696"/>
            </a:avLst>
          </a:prstGeom>
          <a:solidFill>
            <a:srgbClr val="132152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832440" y="2578608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0456" y="270662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411816" y="3182112"/>
            <a:ext cx="13533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1188720" y="46177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exists to move the platform one step closer to a confident, explainable decision.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Achieve?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7444" y="16916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7856" y="194767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160" y="20939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036" y="267919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Integration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93796" y="16916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04208" y="194767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12" y="209397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8388" y="267919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Streaming Pipelines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10148" y="16916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20560" y="194767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864" y="209397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74740" y="267919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Processing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026500" y="16916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36912" y="194767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216" y="209397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91092" y="267919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77444" y="3886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587856" y="414223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160" y="428853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2036" y="487375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Suitability Scoring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393796" y="3886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404208" y="414223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512" y="4288536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58388" y="487375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Solar Analysis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210148" y="3886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220560" y="414223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864" y="4288536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74740" y="487375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Monitoring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9026500" y="388620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0036912" y="4142232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3216" y="4288536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91092" y="4873752"/>
            <a:ext cx="2258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Dashboards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37" name="Text 27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38" name="Text 28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56232"/>
            <a:ext cx="365760" cy="36576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556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solar site selection with explainable evidence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65760" cy="36576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140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data-driven planning instead of guesswork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172968"/>
            <a:ext cx="365760" cy="36576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7238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environmental and energy datasets in one place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831336"/>
            <a:ext cx="365760" cy="36576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307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analysis across scattered 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89704"/>
            <a:ext cx="365760" cy="36576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89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both historical and current insight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148072"/>
            <a:ext cx="365760" cy="36576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0474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scalable foundation for future solar projects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1737360"/>
            <a:ext cx="5150815" cy="3840480"/>
          </a:xfrm>
          <a:prstGeom prst="roundRect">
            <a:avLst>
              <a:gd name="adj" fmla="val 2143"/>
            </a:avLst>
          </a:prstGeom>
          <a:solidFill>
            <a:srgbClr val="0F1A3D"/>
          </a:solidFill>
          <a:ln w="12700">
            <a:solidFill>
              <a:srgbClr val="2630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737360"/>
            <a:ext cx="4510735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Energy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1691640"/>
            <a:ext cx="0" cy="4663440"/>
          </a:xfrm>
          <a:prstGeom prst="line">
            <a:avLst/>
          </a:prstGeom>
          <a:noFill/>
          <a:ln w="25400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96143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915015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23575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Platform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88720" y="2462349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581221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2489781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188720" y="3128554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24742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315598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1188720" y="3794760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91363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920240" y="382219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Site Recommendation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188720" y="4460966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457983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920240" y="448839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Intelligence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1188720" y="5127171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592" y="5246043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920240" y="5154603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Production Forecasting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1188720" y="5793377"/>
            <a:ext cx="457200" cy="45720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7592" y="5912249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920240" y="5820809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02920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103120"/>
            <a:ext cx="4389120" cy="4389120"/>
          </a:xfrm>
          <a:prstGeom prst="ellipse">
            <a:avLst/>
          </a:prstGeom>
          <a:solidFill>
            <a:srgbClr val="1428A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2926080" cy="2926080"/>
          </a:xfrm>
          <a:prstGeom prst="ellipse">
            <a:avLst/>
          </a:prstGeom>
          <a:solidFill>
            <a:srgbClr val="1428A0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-640080"/>
            <a:ext cx="1463040" cy="1463040"/>
          </a:xfrm>
          <a:prstGeom prst="ellipse">
            <a:avLst/>
          </a:prstGeom>
          <a:solidFill>
            <a:srgbClr val="1428A0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4480560"/>
            <a:ext cx="4572000" cy="4572000"/>
          </a:xfrm>
          <a:prstGeom prst="ellipse">
            <a:avLst/>
          </a:prstGeom>
          <a:solidFill>
            <a:srgbClr val="F2B705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46080" y="5242560"/>
            <a:ext cx="3048000" cy="3048000"/>
          </a:xfrm>
          <a:prstGeom prst="ellipse">
            <a:avLst/>
          </a:prstGeom>
          <a:solidFill>
            <a:srgbClr val="F2B705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08080" y="6004560"/>
            <a:ext cx="1524000" cy="1524000"/>
          </a:xfrm>
          <a:prstGeom prst="ellipse">
            <a:avLst/>
          </a:prstGeom>
          <a:solidFill>
            <a:srgbClr val="F2B705">
              <a:alpha val="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0" y="502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841248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Campus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Solar Future.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7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Data Platform for Egypt  ·  Data Engineering Track  ·  Abdulrahman Ayman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Data Platform for Egypt</dc:title>
  <dc:subject>PptxGenJS Presentation</dc:subject>
  <dc:creator>Abdulrahman Ayman</dc:creator>
  <cp:lastModifiedBy>Abdulrahman Ayman</cp:lastModifiedBy>
  <cp:revision>1</cp:revision>
  <dcterms:created xsi:type="dcterms:W3CDTF">2026-10-08T07:42:54Z</dcterms:created>
  <dcterms:modified xsi:type="dcterms:W3CDTF">2026-10-08T07:42:54Z</dcterms:modified>
</cp:coreProperties>
</file>